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CC5F0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solidFill>
            <a:srgbClr val="CC5F00"/>
          </a:solidFill>
          <a:ln/>
        </p:spPr>
      </p:sp>
      <p:sp>
        <p:nvSpPr>
          <p:cNvPr id="4" name="Text 2"/>
          <p:cNvSpPr/>
          <p:nvPr/>
        </p:nvSpPr>
        <p:spPr>
          <a:xfrm>
            <a:off x="5001768" y="91440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48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480" dirty="0"/>
          </a:p>
        </p:txBody>
      </p:sp>
      <p:sp>
        <p:nvSpPr>
          <p:cNvPr id="5" name="Shape 3"/>
          <p:cNvSpPr/>
          <p:nvPr/>
        </p:nvSpPr>
        <p:spPr>
          <a:xfrm rot="2100000">
            <a:off x="6713525" y="1133856"/>
            <a:ext cx="395021" cy="351130"/>
          </a:xfrm>
          <a:prstGeom prst="triangle">
            <a:avLst/>
          </a:prstGeom>
          <a:solidFill>
            <a:srgbClr val="1CB0F6"/>
          </a:solidFill>
          <a:ln/>
        </p:spPr>
      </p:sp>
      <p:sp>
        <p:nvSpPr>
          <p:cNvPr id="6" name="Text 4"/>
          <p:cNvSpPr/>
          <p:nvPr/>
        </p:nvSpPr>
        <p:spPr>
          <a:xfrm>
            <a:off x="2441448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pPr algn="ctr" indent="0" marL="0">
              <a:buNone/>
            </a:pPr>
            <a:r>
              <a:rPr lang="en-US" sz="72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wander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441448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Final — Cómputo Móvil · Modelos de Calidad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41448" y="5029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[Nombres del equipo y matrículas]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GoWander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 es una aplicación móvil de generación inteligente de itinerarios de viaje. El usuario elige una o varias ciudades con sus fechas, descubre atracciones con tarjetas estilo swipe —desliza a la derecha lo que quiere visitar— y la aplicación construye automáticamente una ruta optimizada: distancias, horarios de apertura, tiempos de traslado y distribución día por día, visualizada en un mapa interactivo.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 social convierte los itinerarios en contenido: amistades, chat directo, viajes compartidos en privado y un feed público «Explorar» calificado por la comunidad.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371600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FFE8D1"/>
          </a:solidFill>
          <a:ln/>
        </p:spPr>
      </p:sp>
      <p:sp>
        <p:nvSpPr>
          <p:cNvPr id="6" name="Text 4"/>
          <p:cNvSpPr/>
          <p:nvPr/>
        </p:nvSpPr>
        <p:spPr>
          <a:xfrm>
            <a:off x="8092440" y="148132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C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555480" y="166420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2578608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DDF4FF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2688336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555480" y="28712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reales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63840" y="3785616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FFE8D1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389534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C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555480" y="40782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automáticas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4992624"/>
            <a:ext cx="3749040" cy="1024128"/>
          </a:xfrm>
          <a:prstGeom prst="roundRect">
            <a:avLst>
              <a:gd name="adj" fmla="val 10714"/>
            </a:avLst>
          </a:prstGeom>
          <a:solidFill>
            <a:srgbClr val="DD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8092440" y="510235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555480" y="52852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3703320" cy="4572000"/>
          </a:xfrm>
          <a:prstGeom prst="roundRect">
            <a:avLst>
              <a:gd name="adj" fmla="val 3457"/>
            </a:avLst>
          </a:prstGeom>
          <a:solidFill>
            <a:srgbClr val="FFE8D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Navigation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+ TanStack Query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react-native-maps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claro/oscuro · i18n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703320" cy="4572000"/>
          </a:xfrm>
          <a:prstGeom prst="roundRect">
            <a:avLst>
              <a:gd name="adj" fmla="val 3457"/>
            </a:avLst>
          </a:prstGeom>
          <a:solidFill>
            <a:srgbClr val="DDF4FF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54880" y="246888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SQLAlchemy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(validación)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Google OAuth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itinerarios propio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GitHub Actions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1554480"/>
            <a:ext cx="3703320" cy="4572000"/>
          </a:xfrm>
          <a:prstGeom prst="roundRect">
            <a:avLst>
              <a:gd name="adj" fmla="val 3457"/>
            </a:avLst>
          </a:prstGeom>
          <a:solidFill>
            <a:srgbClr val="E5F8D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1828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32520" y="246888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— 114 pruebas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Funcionales · no funcionales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Estructurales · regresión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manual de 24 casos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de defectos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en cada push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y Registro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de marca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G-avión y wordmark bicolor sobre fondo crema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3D con borde inferior (estilo Duolingo)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 Nunito ExtraBold en títulos y acciones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mínimo con validación y errores claros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sesión con Google (OAuth verificado en servidor)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persistente con JWT en almacenamiento seguro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 turísticas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 (R-03)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categorías de interés con chips de color e íconos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 una sola vez: usuarios nuevos o sin preferencias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después desde el Perfil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 el producto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preferencias ordenan el deck: lo afín aparece primero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onboarding sin botón de regreso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Guardado en el servidor, no en el dispositivo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dónde? (Home)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visual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Saludo contextual por hora del día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Destinos populares en tarjetas con fotografía real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completo de 50 ciudades con buscador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instantánea por ciudad o país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reales de Wikipedia/Wikimedia (256 lugares)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de «viaje en curso» si hay tramos pendientes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del viaje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de rango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Llegada y salida en un calendario mensual propio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pasados deshabilitados; rango resaltado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Píldora resumen: fechas y número de días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día dos veces = viaje de un día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multi-ciudad: fecha mínima = fin del tramo anterior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confirmar: «¿Agregar otro destino?»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ciudad (multi-destino)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bloqueado (prevención)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dedicada fuera de las pestañas: sin escape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botón atrás ni gesto de regreso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Única salida: ✕ con confirmación que descarta el viaje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«Tu viaje hasta ahora» con cada tramo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Atajo «Empezar a deslizar» si ya no quiere agregar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ciudad recién agregada se excluye de la lista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ciudad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Deck (R-05 / R-06)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interactivas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real, categoría con tinte de color, duración estimada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progreso y contador (también por ciudad: París 1/2)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cerrados en tus fechas: blanco y negro + aviso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Gestos y verdicto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Deslizar derecha = aceptar · izquierda = descartar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3D ✓ / ✕ equivalentes al gesto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lugar cerrado no puede aceptarse: rebota con explicación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Itinerario generado (R-07)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optimización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 más cercano (haversine) + horarios de apertura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Empaquetado por días: presupuesto 09:00–20:00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Multi-ciudad: días continuos anclados al calendario real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(UI/UX)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tiempo por día con horas de llegada y traslados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Encabezados «Día N — fecha real»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Acciones: mapa, compartir, guardar, planear otro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ruta (R-08)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Marcadores numerados en orden de visita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Polilínea punteada conectando las paradas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automático para encuadrar toda la ruta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Callout por parada: nombre, hora de llegada y duración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flotante con resumen del viaje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Maps nativo: sin API key ni costos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viajes (R-09)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guardado explícitamente: borradores no contaminan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con paradas, duración y fechas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directo al detalle y al mapa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crea un borrador; «Guardar» lo conserva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«Publicar» implica guardar (consistencia de estados)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por usuario, aislado con JWT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viajes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42416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Social: amigos y chat (R-10)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Amistades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usuarios por nombre o correo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Solicitudes con aceptar / rechazar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amigos con acceso al chat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Mensajería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directo con burbujas y polling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un itinerario como adjunto en el chat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receptor obtiene permiso de lectura del viaje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42416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0424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+ calificaciones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público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viajes publicados por la comunidad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del destino, paradas, duración y autor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de estrellas y número de calificaciones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rating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estrellas, una calificación por usuario por viaje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Re-calificar actualiza, no duplica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feed se ordena: mejor calificados primero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DDF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Perfil: tema e idioma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(UI)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con carga de foto, biografía editable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Estadísticas: viajes guardados e intereses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de intereses con edición directa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039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rápidos (UX)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15384"/>
            <a:ext cx="77724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Apariencia: Sistema / Claro / Oscuro — cambio en vivo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Idioma: Español, English, Français, Deutsch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 persistidas en almacenamiento seguro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52560" y="1234440"/>
            <a:ext cx="2514600" cy="5029200"/>
          </a:xfrm>
          <a:prstGeom prst="roundRect">
            <a:avLst>
              <a:gd name="adj" fmla="val 10182"/>
            </a:avLst>
          </a:prstGeom>
          <a:solidFill>
            <a:srgbClr val="3D3329"/>
          </a:solidFill>
          <a:ln w="31750">
            <a:solidFill>
              <a:srgbClr val="FF7A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7152" y="1417320"/>
            <a:ext cx="2185416" cy="4663440"/>
          </a:xfrm>
          <a:prstGeom prst="roundRect">
            <a:avLst>
              <a:gd name="adj" fmla="val 6695"/>
            </a:avLst>
          </a:prstGeom>
          <a:solidFill>
            <a:srgbClr val="FFF8F0"/>
          </a:solidFill>
          <a:ln/>
        </p:spPr>
      </p:sp>
      <p:sp>
        <p:nvSpPr>
          <p:cNvPr id="11" name="Text 9"/>
          <p:cNvSpPr/>
          <p:nvPr/>
        </p:nvSpPr>
        <p:spPr>
          <a:xfrm>
            <a:off x="9217152" y="301752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17152" y="3840480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(PostgreSQL)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3611880" cy="1737360"/>
          </a:xfrm>
          <a:prstGeom prst="roundRect">
            <a:avLst>
              <a:gd name="adj" fmla="val 7368"/>
            </a:avLst>
          </a:prstGeom>
          <a:solidFill>
            <a:srgbClr val="FFE8D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C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 · avatar · bio · google_id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34840" y="1737360"/>
            <a:ext cx="3611880" cy="1737360"/>
          </a:xfrm>
          <a:prstGeom prst="roundRect">
            <a:avLst>
              <a:gd name="adj" fmla="val 7368"/>
            </a:avLst>
          </a:prstGeom>
          <a:solidFill>
            <a:srgbClr val="DDF4FF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destinations / places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24688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ciudades · 256 lugares · horarios JSON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12480" y="1737360"/>
            <a:ext cx="3611880" cy="1737360"/>
          </a:xfrm>
          <a:prstGeom prst="roundRect">
            <a:avLst>
              <a:gd name="adj" fmla="val 7368"/>
            </a:avLst>
          </a:prstGeom>
          <a:solidFill>
            <a:srgbClr val="E5F8D4"/>
          </a:solidFill>
          <a:ln/>
        </p:spPr>
      </p:sp>
      <p:sp>
        <p:nvSpPr>
          <p:cNvPr id="10" name="Text 8"/>
          <p:cNvSpPr/>
          <p:nvPr/>
        </p:nvSpPr>
        <p:spPr>
          <a:xfrm>
            <a:off x="8641080" y="193852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swipe_sessions / actions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41080" y="246888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decisión por lugar (única)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3611880" cy="1737360"/>
          </a:xfrm>
          <a:prstGeom prst="roundRect">
            <a:avLst>
              <a:gd name="adj" fmla="val 7368"/>
            </a:avLst>
          </a:prstGeom>
          <a:solidFill>
            <a:srgbClr val="FF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C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itineraries / stops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· orden · horas · is_saved · is_public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434840" y="3977640"/>
            <a:ext cx="3611880" cy="1737360"/>
          </a:xfrm>
          <a:prstGeom prst="roundRect">
            <a:avLst>
              <a:gd name="adj" fmla="val 7368"/>
            </a:avLst>
          </a:prstGeom>
          <a:solidFill>
            <a:srgbClr val="DDF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friendships / messages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47091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solicitudes · chat · viajes adjuntos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12480" y="3977640"/>
            <a:ext cx="3611880" cy="1737360"/>
          </a:xfrm>
          <a:prstGeom prst="roundRect">
            <a:avLst>
              <a:gd name="adj" fmla="val 7368"/>
            </a:avLst>
          </a:prstGeom>
          <a:solidFill>
            <a:srgbClr val="E5F8D4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41788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itinerary_ratings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41080" y="47091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⭐ · única por usuario y viaje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por diseño: restricciones de unicidad, llaves foráneas y verificación de propiedad en cada endpoint.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D3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4023360" cy="4023360"/>
          </a:xfrm>
          <a:prstGeom prst="ellipse">
            <a:avLst/>
          </a:prstGeom>
          <a:solidFill>
            <a:srgbClr val="FF7A00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468880"/>
            <a:ext cx="923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CALIDAD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463040" y="356616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Calidad — ISW112 · Unidades I a IV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funcionales y estructurales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3291840" cy="2103120"/>
          </a:xfrm>
          <a:prstGeom prst="roundRect">
            <a:avLst>
              <a:gd name="adj" fmla="val 6087"/>
            </a:avLst>
          </a:prstGeom>
          <a:solidFill>
            <a:srgbClr val="E5F8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830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automáticas · todas en verde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Funcionales (Unidad II §2.1) — sobre la API real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0" y="2103120"/>
            <a:ext cx="7406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Autenticación, registro y preferencias (R-01–R-03)</a:t>
            </a:r>
            <a:endParaRPr lang="en-US" sz="15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Destinos, búsqueda y paginación de lugares (R-04)</a:t>
            </a:r>
            <a:endParaRPr lang="en-US" sz="15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de swipe y decisiones aceptar/rechazar (R-05/06)</a:t>
            </a:r>
            <a:endParaRPr lang="en-US" sz="15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itinerarios: 1 ciudad y multi-ciudad (R-07)</a:t>
            </a:r>
            <a:endParaRPr lang="en-US" sz="15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Guardar, publicar, compartir, social y ratings (R-09/10)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43434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Estructurales / caja blanca (§2.3)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0" y="4800600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Distancia haversine y ordenamiento vecino-más-cercano</a:t>
            </a:r>
            <a:endParaRPr lang="en-US" sz="15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Predicado de horarios de apertura (casos límite)</a:t>
            </a:r>
            <a:endParaRPr lang="en-US" sz="1500" dirty="0"/>
          </a:p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Empaquetado por días y formato de horas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requisito R-01…R-10 tiene pruebas trazables.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no funcionales (§2.2)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5486400" cy="4297680"/>
          </a:xfrm>
          <a:prstGeom prst="roundRect">
            <a:avLst>
              <a:gd name="adj" fmla="val 2979"/>
            </a:avLst>
          </a:prstGeom>
          <a:solidFill>
            <a:srgbClr val="FFE8D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C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itinerarios: &lt; 2 s con 50 lugares en 7 días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de destinos: &lt; 500 ms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(bcrypt): &lt; 1 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Presupuestos que detectan regresiones de complejidad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486400" cy="4297680"/>
          </a:xfrm>
          <a:prstGeom prst="roundRect">
            <a:avLst>
              <a:gd name="adj" fmla="val 2979"/>
            </a:avLst>
          </a:prstGeom>
          <a:solidFill>
            <a:srgbClr val="DDF4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2084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Barrido: todo endpoint protegido rechaza sin token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malformados o falsificados → 401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entre usuarios: lo ajeno responde 404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contraseña (ni el hash) jamás viaja en respuestas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débiles rechazadas en registro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y bitácora de defectos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I y III: error → defecto → falla, con seguimiento en Git y una prueba de regresión por cada defecto corregido (§2.4).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FE8D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848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GW-001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65960" y="20848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rápido saltaba tarjetas (carrera + 500)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20848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de reentrada + 409 idempotente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AF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1635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GW-002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281635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Lugares desaparecían del itinerario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28163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 faltante ≠ cerrado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F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4787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GW-003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354787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fecha de viaje devolvía 422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3547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«date» sombreaba al tipo (Pydantic)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AF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793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GW-004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65960" y="427939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como string en columna UUID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42793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Parseo y validación del subject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9204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FE8D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0109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GW-005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965960" y="501091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 de pruebas filtraba estado entre corridas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50109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en memoria + aislamiento por prueba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AF3E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74243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GW-006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65960" y="57424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sin esquema de validación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5742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Pydantic tipado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manuales y CI (§2.5 · Unidad IV)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5486400" cy="4297680"/>
          </a:xfrm>
          <a:prstGeom prst="roundRect">
            <a:avLst>
              <a:gd name="adj" fmla="val 2979"/>
            </a:avLst>
          </a:prstGeom>
          <a:solidFill>
            <a:srgbClr val="E5F8D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9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manual — 24 casos en dispositivo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Gestos de swipe y doble gesto rápido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de rango y fechas bloqueadas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en B/N para lugares cerrados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oscuro y cambio de idioma en vivo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 sin red (errores amigables)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486400" cy="4297680"/>
          </a:xfrm>
          <a:prstGeom prst="roundRect">
            <a:avLst>
              <a:gd name="adj" fmla="val 2979"/>
            </a:avLst>
          </a:prstGeom>
          <a:solidFill>
            <a:srgbClr val="DDF4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7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continua (GitHub Actions)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72084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(ruff) + las 114 pruebas en cada push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defecto regresa en silencio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Bitácora versionada con referencia a commits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3D3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por diseño: flujo de planeación bloqueado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GoWander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D3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206240" cy="4206240"/>
          </a:xfrm>
          <a:prstGeom prst="ellipse">
            <a:avLst/>
          </a:prstGeom>
          <a:solidFill>
            <a:srgbClr val="1CB0F6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0"/>
            <a:ext cx="9235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B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2926080"/>
            <a:ext cx="923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463040" y="411480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→ preferencias → viaje multi-ciudad → swipe → itinerario → mapa → compartir → Explorar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7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480560"/>
            <a:ext cx="4206240" cy="4206240"/>
          </a:xfrm>
          <a:prstGeom prst="ellipse">
            <a:avLst/>
          </a:prstGeom>
          <a:solidFill>
            <a:srgbClr val="CC5F00"/>
          </a:solidFill>
          <a:ln/>
        </p:spPr>
      </p:sp>
      <p:sp>
        <p:nvSpPr>
          <p:cNvPr id="3" name="Text 1"/>
          <p:cNvSpPr/>
          <p:nvPr/>
        </p:nvSpPr>
        <p:spPr>
          <a:xfrm>
            <a:off x="5184648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0400" dirty="0"/>
          </a:p>
        </p:txBody>
      </p:sp>
      <p:sp>
        <p:nvSpPr>
          <p:cNvPr id="4" name="Shape 2"/>
          <p:cNvSpPr/>
          <p:nvPr/>
        </p:nvSpPr>
        <p:spPr>
          <a:xfrm rot="2100000">
            <a:off x="6611112" y="1371600"/>
            <a:ext cx="329184" cy="292608"/>
          </a:xfrm>
          <a:prstGeom prst="triangle">
            <a:avLst/>
          </a:prstGeom>
          <a:solidFill>
            <a:srgbClr val="1CB0F6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329184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su atención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463040" y="438912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E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[Nombres del equipo y matrículas]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493776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github.com/Axel-C19/Gowander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2026-06-12T05:57:37Z</dcterms:created>
  <dcterms:modified xsi:type="dcterms:W3CDTF">2026-06-12T05:57:37Z</dcterms:modified>
</cp:coreProperties>
</file>